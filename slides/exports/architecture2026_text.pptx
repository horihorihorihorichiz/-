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43032" y="-2103120"/>
            <a:ext cx="3291840" cy="329184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97312" y="-320040"/>
            <a:ext cx="1371600" cy="137160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これからの建築を、5つの視座で。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</a:t>
            </a:r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トレンド </a:t>
            </a:r>
            <a:pPr algn="l" indent="0" marL="0">
              <a:lnSpc>
                <a:spcPct val="95000"/>
              </a:lnSpc>
              <a:buNone/>
            </a:pPr>
            <a:r>
              <a:rPr lang="en-US" sz="42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2026.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14400" y="5212080"/>
            <a:ext cx="457200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5257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気候、素材、知能、そして人。</a:t>
            </a:r>
            <a:endParaRPr lang="en-US" sz="16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5つのキーワードで、</a:t>
            </a:r>
            <a:endParaRPr lang="en-US" sz="16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次の建築の輪郭をたどる。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" y="5961888"/>
            <a:ext cx="877824" cy="877824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目次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719072"/>
            <a:ext cx="1645920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1645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この号で追いかける5つの主題。</a:t>
            </a:r>
            <a:endParaRPr lang="en-US" sz="1300" dirty="0"/>
          </a:p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どれも独立した流れでありながら、</a:t>
            </a:r>
            <a:endParaRPr lang="en-US" sz="1300" dirty="0"/>
          </a:p>
          <a:p>
            <a:pPr algn="l" indent="0" marL="0">
              <a:lnSpc>
                <a:spcPct val="19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静かに互いを引き寄せている。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26080" y="914400"/>
            <a:ext cx="8348472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02412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023360" y="111556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カーボンニュートラル建築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177272" y="117043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26080" y="187452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8424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023360" y="207568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木造建築の進化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177272" y="213055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26080" y="283464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5" name="Text 13"/>
          <p:cNvSpPr/>
          <p:nvPr/>
        </p:nvSpPr>
        <p:spPr>
          <a:xfrm>
            <a:off x="2926080" y="294436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023360" y="303580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AI × BIM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177272" y="309067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926080" y="379476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9" name="Text 17"/>
          <p:cNvSpPr/>
          <p:nvPr/>
        </p:nvSpPr>
        <p:spPr>
          <a:xfrm>
            <a:off x="2926080" y="390448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023360" y="399592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リノベーション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177272" y="405079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26080" y="475488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4864608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023360" y="4956048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ウェルビーイング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177272" y="50109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p. 006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26080" y="5715000"/>
            <a:ext cx="8348472" cy="10973"/>
          </a:xfrm>
          <a:prstGeom prst="rect">
            <a:avLst/>
          </a:prstGeom>
          <a:solidFill>
            <a:srgbClr val="17140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建築は、</a:t>
            </a:r>
            <a:endParaRPr lang="en-US" sz="4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地球にとって最大の炭素産業である。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324612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世界のCO₂排出の約37%は建築に由来する。</a:t>
            </a:r>
            <a:endParaRPr lang="en-US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2050年に向けて、設計の前提そのものが</a:t>
            </a:r>
            <a:endParaRPr lang="en-US" sz="16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書き換えられようとしている。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5029200"/>
            <a:ext cx="10360152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120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建築部門のCO₂排出構造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5486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運用エネルギー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5486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70%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806440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806440"/>
            <a:ext cx="2975412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61447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材料製造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614476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22%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64808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464808"/>
            <a:ext cx="935129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5486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解体・廃棄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43516" y="5486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51676" y="5806440"/>
            <a:ext cx="4250588" cy="50292"/>
          </a:xfrm>
          <a:prstGeom prst="rect">
            <a:avLst/>
          </a:prstGeom>
          <a:solidFill>
            <a:srgbClr val="E6DFC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51676" y="5806440"/>
            <a:ext cx="340047" cy="50292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8" name="Text 16"/>
          <p:cNvSpPr/>
          <p:nvPr/>
        </p:nvSpPr>
        <p:spPr>
          <a:xfrm>
            <a:off x="6551676" y="6126480"/>
            <a:ext cx="472287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3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Source · IEA / UNEP, 2024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5760720"/>
            <a:ext cx="1097280" cy="109728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街が、木で立ち上がる。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1719072"/>
            <a:ext cx="5698084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642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木造建築のマイルストーン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2019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920240" y="20116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CLT基準法改正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20240" y="2359152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直交集成板が一般的な構造材料として基準法に位置づけ。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97180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63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0" y="30632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木材利用促進法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20240" y="3410712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公共だけでなく民間建築物にも木材利用を拡大。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02336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148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20240" y="41148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中高層木造の増加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4462272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10階以上の木造ビルが国内で複数竣工。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507492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663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920240" y="5166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木造比率目標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920240" y="5513832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新築の木造比率 40% → 55% へ。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4400" y="6126480"/>
            <a:ext cx="5303520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1664208"/>
            <a:ext cx="450799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spc="40" kern="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2030年へ向かう、その到達点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66560" y="1920240"/>
            <a:ext cx="45079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18</a:t>
            </a:r>
            <a:pPr algn="l" indent="0" marL="0">
              <a:buNone/>
            </a:pPr>
            <a:r>
              <a:rPr lang="en-US" sz="36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階</a:t>
            </a:r>
            <a:endParaRPr lang="en-US" sz="9600" dirty="0"/>
          </a:p>
        </p:txBody>
      </p:sp>
      <p:sp>
        <p:nvSpPr>
          <p:cNvPr id="25" name="Shape 23"/>
          <p:cNvSpPr/>
          <p:nvPr/>
        </p:nvSpPr>
        <p:spPr>
          <a:xfrm>
            <a:off x="6766560" y="3703320"/>
            <a:ext cx="450799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0" y="3840480"/>
            <a:ext cx="4507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2025年、国内最高の木造ビル。</a:t>
            </a:r>
            <a:endParaRPr lang="en-US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CLTとRC造のハイブリッドで、</a:t>
            </a:r>
            <a:endParaRPr lang="en-US" sz="1400" dirty="0"/>
          </a:p>
          <a:p>
            <a:pPr algn="l" indent="0" marL="0">
              <a:lnSpc>
                <a:spcPct val="18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木は「風合い」から「骨格」へ還った。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設計図を、もう一度考え直す。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914400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975104"/>
            <a:ext cx="33162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−40</a:t>
            </a:r>
            <a:pPr algn="l" indent="0" marL="0">
              <a:buNone/>
            </a:pPr>
            <a:r>
              <a:rPr lang="en-US" sz="24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33162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設計期間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33162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法規チェック、構造計算、ドキュメント生成。手仕事の大半が自動化される。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7784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8" name="Text 6"/>
          <p:cNvSpPr/>
          <p:nvPr/>
        </p:nvSpPr>
        <p:spPr>
          <a:xfrm>
            <a:off x="4367784" y="1975104"/>
            <a:ext cx="33162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−25</a:t>
            </a:r>
            <a:pPr algn="l" indent="0" marL="0">
              <a:buNone/>
            </a:pPr>
            <a:r>
              <a:rPr lang="en-US" sz="24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4367784" y="3246120"/>
            <a:ext cx="33162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施工コスト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67784" y="3657600"/>
            <a:ext cx="33162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BIMデータから自動積算、工程最適化。見積の透明度が一段上がる。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821168" y="1920240"/>
            <a:ext cx="3316224" cy="34747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2" name="Text 10"/>
          <p:cNvSpPr/>
          <p:nvPr/>
        </p:nvSpPr>
        <p:spPr>
          <a:xfrm>
            <a:off x="7821168" y="1975104"/>
            <a:ext cx="33162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+60</a:t>
            </a:r>
            <a:pPr algn="l" indent="0" marL="0">
              <a:buNone/>
            </a:pPr>
            <a:r>
              <a:rPr lang="en-US" sz="2400" i="1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%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7821168" y="3246120"/>
            <a:ext cx="33162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維持管理の精度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821168" y="3657600"/>
            <a:ext cx="33162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IoTセンサー × AI予測により、建物は「使われながら学習する」対象に。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5760720"/>
            <a:ext cx="27432" cy="457200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715000"/>
            <a:ext cx="103601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創造性の輪郭は変わらない。</a:t>
            </a:r>
            <a:endParaRPr lang="en-US" sz="15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ただ、そこに至る道のりが短くなる。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65992" y="-1737360"/>
            <a:ext cx="2560320" cy="256032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85332" y="914400"/>
            <a:ext cx="13716" cy="5349240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49423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494233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既存を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読み直す。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494233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新築の時代から、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ストック更新の時代へ。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既存躯体の価値を読み解き、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手を入れることで街が変わる。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074920"/>
            <a:ext cx="49423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64%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6080760"/>
            <a:ext cx="49423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2030年 リノベ市場比率の予測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42532" y="914400"/>
            <a:ext cx="47320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542532" y="1645920"/>
            <a:ext cx="47320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建築は、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ケアになる。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42532" y="3337560"/>
            <a:ext cx="47320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WELL認証、CASBEE-ウェルネス、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環境IoTによる快適性の数値化。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空間は「健康を手当てする装置」</a:t>
            </a:r>
            <a:endParaRPr lang="en-US" sz="14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として設計される。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42532" y="5074920"/>
            <a:ext cx="47320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×3.2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542532" y="6080760"/>
            <a:ext cx="47320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5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健康志向オフィスの生産性指標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5943600"/>
            <a:ext cx="4023360" cy="4023360"/>
          </a:xfrm>
          <a:prstGeom prst="ellipse">
            <a:avLst/>
          </a:prstGeom>
          <a:ln w="15240">
            <a:solidFill>
              <a:srgbClr val="171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建築の未来は、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環境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技術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と</a:t>
            </a:r>
            <a:pPr algn="l" indent="0" marL="0">
              <a:lnSpc>
                <a:spcPct val="120000"/>
              </a:lnSpc>
              <a:buNone/>
            </a:pPr>
            <a:r>
              <a:rPr lang="en-US" sz="5800" b="1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の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
</a:t>
            </a:r>
            <a:pPr algn="l" indent="0" marL="0">
              <a:lnSpc>
                <a:spcPct val="120000"/>
              </a:lnSpc>
              <a:buNone/>
            </a:pPr>
            <a:r>
              <a:rPr lang="en-US" sz="58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交差点にある。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914400" y="5577840"/>
            <a:ext cx="10360152" cy="10973"/>
          </a:xfrm>
          <a:prstGeom prst="rect">
            <a:avLst/>
          </a:prstGeom>
          <a:solidFill>
            <a:srgbClr val="17140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696712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7140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— 建築トレンド 2026 / 2026.03.30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2026-04-23T04:17:26Z</dcterms:created>
  <dcterms:modified xsi:type="dcterms:W3CDTF">2026-04-23T04:17:26Z</dcterms:modified>
</cp:coreProperties>
</file>