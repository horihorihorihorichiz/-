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38369" y="-2539563"/>
            <a:ext cx="3301167" cy="3301167"/>
          </a:xfrm>
          <a:prstGeom prst="ellipse">
            <a:avLst/>
          </a:prstGeom>
          <a:ln w="19050">
            <a:solidFill>
              <a:srgbClr val="171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28838" y="381213"/>
            <a:ext cx="1396655" cy="1396655"/>
          </a:xfrm>
          <a:prstGeom prst="ellipse">
            <a:avLst/>
          </a:prstGeom>
          <a:ln w="19050">
            <a:solidFill>
              <a:srgbClr val="171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787" y="1651041"/>
            <a:ext cx="5713537" cy="304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— これからの建築を、5つの視座で。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1787" y="1968520"/>
            <a:ext cx="8887785" cy="3556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建築</a:t>
            </a:r>
            <a:pPr indent="0" marL="0">
              <a:lnSpc>
                <a:spcPct val="92000"/>
              </a:lnSpc>
              <a:buNone/>
            </a:pPr>
            <a:r>
              <a:rPr lang="en-US" sz="9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
</a:t>
            </a:r>
            <a:pPr indent="0" marL="0">
              <a:lnSpc>
                <a:spcPct val="92000"/>
              </a:lnSpc>
              <a:buNone/>
            </a:pPr>
            <a:r>
              <a:rPr lang="en-US" sz="9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トレンド </a:t>
            </a:r>
            <a:pPr indent="0" marL="0">
              <a:lnSpc>
                <a:spcPct val="92000"/>
              </a:lnSpc>
              <a:buNone/>
            </a:pPr>
            <a:r>
              <a:rPr lang="en-US" sz="5400" b="1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2026.</a:t>
            </a:r>
            <a:endParaRPr lang="en-US" sz="9800" dirty="0"/>
          </a:p>
        </p:txBody>
      </p:sp>
      <p:sp>
        <p:nvSpPr>
          <p:cNvPr id="6" name="Shape 4"/>
          <p:cNvSpPr/>
          <p:nvPr/>
        </p:nvSpPr>
        <p:spPr>
          <a:xfrm>
            <a:off x="761787" y="5333970"/>
            <a:ext cx="4570903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7" name="Text 5"/>
          <p:cNvSpPr/>
          <p:nvPr/>
        </p:nvSpPr>
        <p:spPr>
          <a:xfrm>
            <a:off x="914126" y="5448270"/>
            <a:ext cx="4443893" cy="1270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5000"/>
              </a:lnSpc>
              <a:buNone/>
            </a:pPr>
            <a:r>
              <a:rPr lang="en-US" sz="12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気候、素材、知能、そして人。</a:t>
            </a:r>
            <a:endParaRPr lang="en-US" sz="12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2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5つのキーワードで、</a:t>
            </a:r>
            <a:endParaRPr lang="en-US" sz="12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2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次の建築の輪郭をたどる。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19" y="5969203"/>
            <a:ext cx="888797" cy="888797"/>
          </a:xfrm>
          <a:prstGeom prst="ellipse">
            <a:avLst/>
          </a:prstGeom>
          <a:ln w="19050">
            <a:solidFill>
              <a:srgbClr val="1714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1787" y="761970"/>
            <a:ext cx="1777594" cy="634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1787" y="1346180"/>
            <a:ext cx="1777594" cy="3657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5" name="Text 3"/>
          <p:cNvSpPr/>
          <p:nvPr/>
        </p:nvSpPr>
        <p:spPr>
          <a:xfrm>
            <a:off x="761787" y="1587490"/>
            <a:ext cx="1650583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この号で追いかける5つの主題。</a:t>
            </a:r>
            <a:endParaRPr lang="en-US" sz="1100" dirty="0"/>
          </a:p>
          <a:p>
            <a:pPr indent="0" marL="0">
              <a:lnSpc>
                <a:spcPct val="19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どれも独立した流れでありながら、</a:t>
            </a:r>
            <a:endParaRPr lang="en-US" sz="1100" dirty="0"/>
          </a:p>
          <a:p>
            <a:pPr indent="0" marL="0">
              <a:lnSpc>
                <a:spcPct val="19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静かに互いを引き寄せている。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96397" y="761970"/>
            <a:ext cx="8430768" cy="3657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7" name="Text 5"/>
          <p:cNvSpPr/>
          <p:nvPr/>
        </p:nvSpPr>
        <p:spPr>
          <a:xfrm>
            <a:off x="2996397" y="838139"/>
            <a:ext cx="609448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821735" y="952439"/>
            <a:ext cx="5840547" cy="355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カーボンニュートラル建築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5379" y="838139"/>
            <a:ext cx="761787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p. 003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6397" y="1473190"/>
            <a:ext cx="8430768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1" name="Text 9"/>
          <p:cNvSpPr/>
          <p:nvPr/>
        </p:nvSpPr>
        <p:spPr>
          <a:xfrm>
            <a:off x="2996397" y="1549359"/>
            <a:ext cx="609448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821735" y="1663659"/>
            <a:ext cx="5840547" cy="355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木造建築の進化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65379" y="1549359"/>
            <a:ext cx="761787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p. 004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96397" y="2184410"/>
            <a:ext cx="8430768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5" name="Text 13"/>
          <p:cNvSpPr/>
          <p:nvPr/>
        </p:nvSpPr>
        <p:spPr>
          <a:xfrm>
            <a:off x="2996397" y="2260580"/>
            <a:ext cx="609448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821735" y="2374880"/>
            <a:ext cx="5840547" cy="355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AI × BIM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65379" y="2260580"/>
            <a:ext cx="761787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p. 005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96397" y="2895630"/>
            <a:ext cx="8430768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9" name="Text 17"/>
          <p:cNvSpPr/>
          <p:nvPr/>
        </p:nvSpPr>
        <p:spPr>
          <a:xfrm>
            <a:off x="2996397" y="2971800"/>
            <a:ext cx="609448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821735" y="3086100"/>
            <a:ext cx="5840547" cy="355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リノベーション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65379" y="2971800"/>
            <a:ext cx="761787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p. 006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96397" y="3606851"/>
            <a:ext cx="8430768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23" name="Text 21"/>
          <p:cNvSpPr/>
          <p:nvPr/>
        </p:nvSpPr>
        <p:spPr>
          <a:xfrm>
            <a:off x="2996397" y="3683020"/>
            <a:ext cx="609448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821735" y="3797320"/>
            <a:ext cx="5840547" cy="355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ウェルビーイング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665379" y="3683020"/>
            <a:ext cx="761787" cy="508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p. 006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96397" y="4318071"/>
            <a:ext cx="8430768" cy="13716"/>
          </a:xfrm>
          <a:prstGeom prst="rect">
            <a:avLst/>
          </a:prstGeom>
          <a:solidFill>
            <a:srgbClr val="17140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787" y="761970"/>
            <a:ext cx="10665379" cy="2095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建築は、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地球にとって最大の炭素産業である。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1787" y="2984510"/>
            <a:ext cx="5586618" cy="952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世界のCO₂排出の約37%は建築に由来する。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2050年に向けて、設計の前提そのものが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書き換えられようとしている。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787" y="4724339"/>
            <a:ext cx="10665379" cy="3657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5" name="Text 3"/>
          <p:cNvSpPr/>
          <p:nvPr/>
        </p:nvSpPr>
        <p:spPr>
          <a:xfrm>
            <a:off x="761787" y="4813219"/>
            <a:ext cx="3809025" cy="139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建築部門のCO₂排出構造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761787" y="5016398"/>
            <a:ext cx="2539380" cy="190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運用エネルギー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28086" y="5016398"/>
            <a:ext cx="507858" cy="190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70%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1787" y="5225979"/>
            <a:ext cx="4469309" cy="54864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9" name="Shape 7"/>
          <p:cNvSpPr/>
          <p:nvPr/>
        </p:nvSpPr>
        <p:spPr>
          <a:xfrm>
            <a:off x="761787" y="5225979"/>
            <a:ext cx="3128516" cy="54864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0" name="Text 8"/>
          <p:cNvSpPr/>
          <p:nvPr/>
        </p:nvSpPr>
        <p:spPr>
          <a:xfrm>
            <a:off x="761787" y="5575188"/>
            <a:ext cx="2539380" cy="190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材料製造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8086" y="5575188"/>
            <a:ext cx="507858" cy="190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22%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787" y="5784769"/>
            <a:ext cx="4469309" cy="54864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1787" y="5784769"/>
            <a:ext cx="983248" cy="54864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4" name="Text 12"/>
          <p:cNvSpPr/>
          <p:nvPr/>
        </p:nvSpPr>
        <p:spPr>
          <a:xfrm>
            <a:off x="6348405" y="5016398"/>
            <a:ext cx="2539380" cy="190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解体・廃棄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14704" y="5016398"/>
            <a:ext cx="507858" cy="190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48405" y="5225979"/>
            <a:ext cx="4469309" cy="54864"/>
          </a:xfrm>
          <a:prstGeom prst="rect">
            <a:avLst/>
          </a:prstGeom>
          <a:solidFill>
            <a:srgbClr val="E6DFC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48405" y="5225979"/>
            <a:ext cx="357545" cy="54864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8" name="Text 16"/>
          <p:cNvSpPr/>
          <p:nvPr/>
        </p:nvSpPr>
        <p:spPr>
          <a:xfrm>
            <a:off x="6348405" y="5676870"/>
            <a:ext cx="5078760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40" kern="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Source · IEA / UNEP, 2024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187" y="5715183"/>
            <a:ext cx="1142634" cy="1142634"/>
          </a:xfrm>
          <a:prstGeom prst="ellipse">
            <a:avLst/>
          </a:prstGeom>
          <a:ln w="19050">
            <a:solidFill>
              <a:srgbClr val="1714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1787" y="761970"/>
            <a:ext cx="10665379" cy="666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街が、木で立ち上がる。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61787" y="1409639"/>
            <a:ext cx="6399227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5" name="Text 3"/>
          <p:cNvSpPr/>
          <p:nvPr/>
        </p:nvSpPr>
        <p:spPr>
          <a:xfrm>
            <a:off x="761787" y="1422349"/>
            <a:ext cx="6602334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40" kern="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木造建築のマイルストーン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761787" y="1587490"/>
            <a:ext cx="6602334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7" name="Text 5"/>
          <p:cNvSpPr/>
          <p:nvPr/>
        </p:nvSpPr>
        <p:spPr>
          <a:xfrm>
            <a:off x="761787" y="1638330"/>
            <a:ext cx="863376" cy="31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2019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52173" y="1638330"/>
            <a:ext cx="5459608" cy="647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CLT基準法改正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
</a:t>
            </a:r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直交集成板が一般的な構造材料として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基準法に位置づけ。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1787" y="2336749"/>
            <a:ext cx="6602334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0" name="Text 8"/>
          <p:cNvSpPr/>
          <p:nvPr/>
        </p:nvSpPr>
        <p:spPr>
          <a:xfrm>
            <a:off x="761787" y="2387590"/>
            <a:ext cx="863376" cy="31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2022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52173" y="2387590"/>
            <a:ext cx="5459608" cy="647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木材利用促進法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
</a:t>
            </a:r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公共だけでなく民間建築物にも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木材利用を拡大。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1787" y="3086009"/>
            <a:ext cx="6602334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3" name="Text 11"/>
          <p:cNvSpPr/>
          <p:nvPr/>
        </p:nvSpPr>
        <p:spPr>
          <a:xfrm>
            <a:off x="761787" y="3136849"/>
            <a:ext cx="863376" cy="31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2025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52173" y="3136849"/>
            <a:ext cx="5459608" cy="647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中高層木造の増加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
</a:t>
            </a:r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10階以上の木造ビルが国内で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複数竣工。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1787" y="3835268"/>
            <a:ext cx="6602334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6" name="Text 14"/>
          <p:cNvSpPr/>
          <p:nvPr/>
        </p:nvSpPr>
        <p:spPr>
          <a:xfrm>
            <a:off x="761787" y="3886109"/>
            <a:ext cx="863376" cy="31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52173" y="3886109"/>
            <a:ext cx="5459608" cy="647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木造比率目標</a:t>
            </a:r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
</a:t>
            </a:r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新築の木造比率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40% → 55% へ。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1787" y="4584527"/>
            <a:ext cx="6602334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9" name="Text 17"/>
          <p:cNvSpPr/>
          <p:nvPr/>
        </p:nvSpPr>
        <p:spPr>
          <a:xfrm>
            <a:off x="7745059" y="1422349"/>
            <a:ext cx="3682106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40" kern="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2030年へ向かう、その到達点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745059" y="1587490"/>
            <a:ext cx="3682106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18</a:t>
            </a:r>
            <a:pPr indent="0" marL="0">
              <a:buNone/>
            </a:pPr>
            <a:r>
              <a:rPr lang="en-US" sz="3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階</a:t>
            </a:r>
            <a:endParaRPr lang="en-US" sz="11200" dirty="0"/>
          </a:p>
        </p:txBody>
      </p:sp>
      <p:sp>
        <p:nvSpPr>
          <p:cNvPr id="21" name="Shape 19"/>
          <p:cNvSpPr/>
          <p:nvPr/>
        </p:nvSpPr>
        <p:spPr>
          <a:xfrm>
            <a:off x="7745059" y="3352830"/>
            <a:ext cx="3682106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22" name="Text 20"/>
          <p:cNvSpPr/>
          <p:nvPr/>
        </p:nvSpPr>
        <p:spPr>
          <a:xfrm>
            <a:off x="7745059" y="3454420"/>
            <a:ext cx="3682106" cy="1270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2025年、国内最高の木造ビル。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CLTとRC造のハイブリッドで、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木は「風合い」から「骨格」へ還った。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787" y="761970"/>
            <a:ext cx="10665379" cy="666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設計図を、もう一度考え直す。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61787" y="1714500"/>
            <a:ext cx="3555126" cy="3657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4" name="Text 2"/>
          <p:cNvSpPr/>
          <p:nvPr/>
        </p:nvSpPr>
        <p:spPr>
          <a:xfrm>
            <a:off x="761787" y="1777959"/>
            <a:ext cx="3555126" cy="1238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4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−40</a:t>
            </a:r>
            <a:pPr indent="0" marL="0">
              <a:buNone/>
            </a:pPr>
            <a:r>
              <a:rPr lang="en-US" sz="2600" i="1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%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761787" y="3079791"/>
            <a:ext cx="3555126" cy="304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設計期間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787" y="3441710"/>
            <a:ext cx="3555126" cy="1270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法規チェック、構造計算、</a:t>
            </a:r>
            <a:endParaRPr lang="en-US" sz="11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ドキュメント生成。</a:t>
            </a:r>
            <a:endParaRPr lang="en-US" sz="11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手仕事の大半が自動化される。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69252" y="1714500"/>
            <a:ext cx="3402787" cy="3657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8" name="Text 6"/>
          <p:cNvSpPr/>
          <p:nvPr/>
        </p:nvSpPr>
        <p:spPr>
          <a:xfrm>
            <a:off x="4469252" y="1777959"/>
            <a:ext cx="3402787" cy="1238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4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−25</a:t>
            </a:r>
            <a:pPr indent="0" marL="0">
              <a:buNone/>
            </a:pPr>
            <a:r>
              <a:rPr lang="en-US" sz="2600" i="1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%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4469252" y="3079791"/>
            <a:ext cx="3402787" cy="304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施工コスト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69252" y="3441710"/>
            <a:ext cx="3402787" cy="1270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BIMデータから自動積算、</a:t>
            </a:r>
            <a:endParaRPr lang="en-US" sz="11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工程最適化。</a:t>
            </a:r>
            <a:endParaRPr lang="en-US" sz="11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見積の透明度が一段上がる。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24378" y="1714500"/>
            <a:ext cx="3402787" cy="3657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2" name="Text 10"/>
          <p:cNvSpPr/>
          <p:nvPr/>
        </p:nvSpPr>
        <p:spPr>
          <a:xfrm>
            <a:off x="8024378" y="1777959"/>
            <a:ext cx="3402787" cy="1238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4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+60</a:t>
            </a:r>
            <a:pPr indent="0" marL="0">
              <a:buNone/>
            </a:pPr>
            <a:r>
              <a:rPr lang="en-US" sz="2600" i="1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%</a:t>
            </a:r>
            <a:endParaRPr lang="en-US" sz="7400" dirty="0"/>
          </a:p>
        </p:txBody>
      </p:sp>
      <p:sp>
        <p:nvSpPr>
          <p:cNvPr id="13" name="Text 11"/>
          <p:cNvSpPr/>
          <p:nvPr/>
        </p:nvSpPr>
        <p:spPr>
          <a:xfrm>
            <a:off x="8024378" y="3079791"/>
            <a:ext cx="3402787" cy="304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維持管理の精度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24378" y="3441710"/>
            <a:ext cx="3402787" cy="1270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IoTセンサー × AI予測により、</a:t>
            </a:r>
            <a:endParaRPr lang="en-US" sz="11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建物は「使われながら学習する」</a:t>
            </a:r>
            <a:endParaRPr lang="en-US" sz="1100" dirty="0"/>
          </a:p>
          <a:p>
            <a:pPr indent="0" marL="0">
              <a:lnSpc>
                <a:spcPct val="17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対象に。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1787" y="5816590"/>
            <a:ext cx="25420" cy="330190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16" name="Text 14"/>
          <p:cNvSpPr/>
          <p:nvPr/>
        </p:nvSpPr>
        <p:spPr>
          <a:xfrm>
            <a:off x="901416" y="5791170"/>
            <a:ext cx="106653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— 創造性の輪郭は変わらない。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ただ、そこに至る道のりが短くなる。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3236" y="-381030"/>
            <a:ext cx="1396655" cy="1396655"/>
          </a:xfrm>
          <a:prstGeom prst="ellipse">
            <a:avLst/>
          </a:prstGeom>
          <a:ln w="19050">
            <a:solidFill>
              <a:srgbClr val="171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8121" y="761970"/>
            <a:ext cx="12710" cy="5486400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4" name="Text 2"/>
          <p:cNvSpPr/>
          <p:nvPr/>
        </p:nvSpPr>
        <p:spPr>
          <a:xfrm>
            <a:off x="761787" y="761970"/>
            <a:ext cx="5097826" cy="55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1787" y="1320759"/>
            <a:ext cx="5097826" cy="1238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既存を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読み直す。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1787" y="2635209"/>
            <a:ext cx="5097826" cy="152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新築の時代から、</a:t>
            </a:r>
            <a:endParaRPr lang="en-US" sz="11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ストック更新の時代へ。</a:t>
            </a:r>
            <a:endParaRPr lang="en-US" sz="11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既存躯体の価値を読み解き、</a:t>
            </a:r>
            <a:endParaRPr lang="en-US" sz="11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手を入れることで街が変わる。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1787" y="4190970"/>
            <a:ext cx="5097826" cy="984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61787" y="5206959"/>
            <a:ext cx="5097826" cy="31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2030年 リノベ市場比率の予測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45229" y="761970"/>
            <a:ext cx="4881936" cy="55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45229" y="1320759"/>
            <a:ext cx="4881936" cy="1238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建築は、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ケアになる。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45229" y="2635209"/>
            <a:ext cx="4881936" cy="1524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WELL認証、CASBEE-ウェルネス、</a:t>
            </a:r>
            <a:endParaRPr lang="en-US" sz="11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環境IoTによる快適性の数値化。</a:t>
            </a:r>
            <a:endParaRPr lang="en-US" sz="11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空間は「健康を手当てする装置」</a:t>
            </a:r>
            <a:endParaRPr lang="en-US" sz="1100" dirty="0"/>
          </a:p>
          <a:p>
            <a:pPr indent="0" marL="0">
              <a:lnSpc>
                <a:spcPct val="185000"/>
              </a:lnSpc>
              <a:buNone/>
            </a:pPr>
            <a:r>
              <a:rPr lang="en-US" sz="1100" dirty="0">
                <a:solidFill>
                  <a:srgbClr val="2B251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として設計される。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45229" y="4190970"/>
            <a:ext cx="4881936" cy="984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×3.2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545229" y="5206959"/>
            <a:ext cx="4881936" cy="31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5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健康志向オフィスの生産性指標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7543" y="6286774"/>
            <a:ext cx="2666390" cy="2666390"/>
          </a:xfrm>
          <a:prstGeom prst="ellipse">
            <a:avLst/>
          </a:prstGeom>
          <a:ln w="19050">
            <a:solidFill>
              <a:srgbClr val="1714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1787" y="1651041"/>
            <a:ext cx="10665379" cy="3683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56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建築の未来は、</a:t>
            </a:r>
            <a:pPr indent="0" marL="0">
              <a:lnSpc>
                <a:spcPct val="118000"/>
              </a:lnSpc>
              <a:buNone/>
            </a:pPr>
            <a:r>
              <a:rPr lang="en-US" sz="56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5600" b="1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環境</a:t>
            </a:r>
            <a:pPr indent="0" marL="0">
              <a:lnSpc>
                <a:spcPct val="118000"/>
              </a:lnSpc>
              <a:buNone/>
            </a:pPr>
            <a:r>
              <a:rPr lang="en-US" sz="56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と</a:t>
            </a:r>
            <a:pPr indent="0" marL="0">
              <a:lnSpc>
                <a:spcPct val="118000"/>
              </a:lnSpc>
              <a:buNone/>
            </a:pPr>
            <a:r>
              <a:rPr lang="en-US" sz="5600" b="1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技術</a:t>
            </a:r>
            <a:pPr indent="0" marL="0">
              <a:lnSpc>
                <a:spcPct val="118000"/>
              </a:lnSpc>
              <a:buNone/>
            </a:pPr>
            <a:r>
              <a:rPr lang="en-US" sz="56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と</a:t>
            </a:r>
            <a:pPr indent="0" marL="0">
              <a:lnSpc>
                <a:spcPct val="118000"/>
              </a:lnSpc>
              <a:buNone/>
            </a:pPr>
            <a:r>
              <a:rPr lang="en-US" sz="5600" b="1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人</a:t>
            </a:r>
            <a:pPr indent="0" marL="0">
              <a:lnSpc>
                <a:spcPct val="118000"/>
              </a:lnSpc>
              <a:buNone/>
            </a:pPr>
            <a:r>
              <a:rPr lang="en-US" sz="56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の</a:t>
            </a:r>
            <a:pPr indent="0" marL="0">
              <a:lnSpc>
                <a:spcPct val="118000"/>
              </a:lnSpc>
              <a:buNone/>
            </a:pPr>
            <a:r>
              <a:rPr lang="en-US" sz="56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56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交差点にある。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61787" y="5765749"/>
            <a:ext cx="10665379" cy="13716"/>
          </a:xfrm>
          <a:prstGeom prst="rect">
            <a:avLst/>
          </a:prstGeom>
          <a:solidFill>
            <a:srgbClr val="17140F"/>
          </a:solidFill>
          <a:ln/>
        </p:spPr>
      </p:sp>
      <p:sp>
        <p:nvSpPr>
          <p:cNvPr id="5" name="Text 3"/>
          <p:cNvSpPr/>
          <p:nvPr/>
        </p:nvSpPr>
        <p:spPr>
          <a:xfrm>
            <a:off x="761787" y="5854629"/>
            <a:ext cx="10665379" cy="31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7140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— 建築トレンド 2026 / 2026.03.30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2026-04-23T03:58:16Z</dcterms:created>
  <dcterms:modified xsi:type="dcterms:W3CDTF">2026-04-23T03:58:16Z</dcterms:modified>
</cp:coreProperties>
</file>