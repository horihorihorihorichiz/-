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SALES MEETING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営業会議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2026年3月度　実績報告・進捗確認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2026.04.24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3月度 売上サマリー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3544824" cy="3840480"/>
          </a:xfrm>
          <a:prstGeom prst="rect">
            <a:avLst/>
          </a:prstGeom>
          <a:solidFill>
            <a:srgbClr val="16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3736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1790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¥48.5M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 12.3% 前月比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31790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目標 ¥45M（達成率 107.8%）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22064" y="1143000"/>
            <a:ext cx="3544824" cy="3840480"/>
          </a:xfrm>
          <a:prstGeom prst="rect">
            <a:avLst/>
          </a:prstGeom>
          <a:solidFill>
            <a:srgbClr val="162A4A"/>
          </a:solidFill>
          <a:ln/>
        </p:spPr>
      </p:sp>
      <p:sp>
        <p:nvSpPr>
          <p:cNvPr id="10" name="Text 8"/>
          <p:cNvSpPr/>
          <p:nvPr/>
        </p:nvSpPr>
        <p:spPr>
          <a:xfrm>
            <a:off x="4504944" y="173736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新規受注件数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04944" y="2331720"/>
            <a:ext cx="31790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23件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04944" y="342900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 5件 前月比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04944" y="3931920"/>
            <a:ext cx="31790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目標 20件（達成率 115%）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5488" y="1143000"/>
            <a:ext cx="3544824" cy="3840480"/>
          </a:xfrm>
          <a:prstGeom prst="rect">
            <a:avLst/>
          </a:prstGeom>
          <a:solidFill>
            <a:srgbClr val="16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278368" y="173736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受注単価（平均）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8368" y="2331720"/>
            <a:ext cx="31790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¥2.1M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278368" y="342900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▼ 3.2% 前月比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78368" y="3931920"/>
            <a:ext cx="31790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前月 ¥2.17M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11091672" cy="566928"/>
          </a:xfrm>
          <a:prstGeom prst="rect">
            <a:avLst/>
          </a:prstGeom>
          <a:solidFill>
            <a:srgbClr val="1A2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5166360"/>
            <a:ext cx="11091672" cy="1371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166360"/>
            <a:ext cx="10543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売上・件数ともに月間目標を達成。単価は小型案件の増加により微減。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売上内訳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43000"/>
            <a:ext cx="53629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カテゴリ別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536192"/>
            <a:ext cx="5362956" cy="10973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37360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828800" y="1737360"/>
            <a:ext cx="3991356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Shape 6"/>
          <p:cNvSpPr/>
          <p:nvPr/>
        </p:nvSpPr>
        <p:spPr>
          <a:xfrm>
            <a:off x="1828800" y="1737360"/>
            <a:ext cx="2195246" cy="43891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1965960" y="1737360"/>
            <a:ext cx="205808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¥26.7M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414016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受託開発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28800" y="2414016"/>
            <a:ext cx="3991356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828800" y="2414016"/>
            <a:ext cx="1197407" cy="43891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1965960" y="2414016"/>
            <a:ext cx="10602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¥14.6M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090672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コンサル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828800" y="3090672"/>
            <a:ext cx="3991356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828800" y="3090672"/>
            <a:ext cx="598703" cy="43891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1965960" y="3090672"/>
            <a:ext cx="46154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¥7.2M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77356" y="1143000"/>
            <a:ext cx="53629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チーム別実績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7356" y="1536192"/>
            <a:ext cx="5362956" cy="10973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" name="Shape 18"/>
          <p:cNvSpPr/>
          <p:nvPr/>
        </p:nvSpPr>
        <p:spPr>
          <a:xfrm>
            <a:off x="6277356" y="1737360"/>
            <a:ext cx="5362956" cy="1188720"/>
          </a:xfrm>
          <a:prstGeom prst="rect">
            <a:avLst/>
          </a:prstGeom>
          <a:solidFill>
            <a:srgbClr val="16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6551676" y="1901952"/>
            <a:ext cx="3351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第1営業部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51676" y="2359152"/>
            <a:ext cx="3351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田中チーム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51676" y="1847088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¥22.1M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551676" y="242316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達成率 112%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77356" y="3108960"/>
            <a:ext cx="5362956" cy="1188720"/>
          </a:xfrm>
          <a:prstGeom prst="rect">
            <a:avLst/>
          </a:prstGeom>
          <a:solidFill>
            <a:srgbClr val="16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6551676" y="3273552"/>
            <a:ext cx="3351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第2営業部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551676" y="3730752"/>
            <a:ext cx="3351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鈴木チーム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51676" y="3218688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¥16.2M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551676" y="379476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達成率 105%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77356" y="4480560"/>
            <a:ext cx="5362956" cy="1188720"/>
          </a:xfrm>
          <a:prstGeom prst="rect">
            <a:avLst/>
          </a:prstGeom>
          <a:solidFill>
            <a:srgbClr val="162A4A"/>
          </a:solidFill>
          <a:ln/>
        </p:spPr>
      </p:sp>
      <p:sp>
        <p:nvSpPr>
          <p:cNvPr id="31" name="Text 29"/>
          <p:cNvSpPr/>
          <p:nvPr/>
        </p:nvSpPr>
        <p:spPr>
          <a:xfrm>
            <a:off x="6551676" y="4645152"/>
            <a:ext cx="3351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第3営業部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551676" y="5102352"/>
            <a:ext cx="3351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佐藤チーム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51676" y="4590288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¥10.2M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551676" y="516636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達成率 92%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営業進捗 — パイプライン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344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リード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03120" y="1234440"/>
            <a:ext cx="9537192" cy="5943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" name="Shape 4"/>
          <p:cNvSpPr/>
          <p:nvPr/>
        </p:nvSpPr>
        <p:spPr>
          <a:xfrm>
            <a:off x="2103120" y="1234440"/>
            <a:ext cx="9537192" cy="5943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1234440"/>
            <a:ext cx="93543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142件  </a:t>
            </a:r>
            <a:pPr algn="l" indent="0" marL="0">
              <a:buNone/>
            </a:pPr>
            <a:r>
              <a:rPr lang="en-US" sz="1200" b="1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前月 +18件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029968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商談中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103120" y="2029968"/>
            <a:ext cx="9537192" cy="5943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Shape 8"/>
          <p:cNvSpPr/>
          <p:nvPr/>
        </p:nvSpPr>
        <p:spPr>
          <a:xfrm>
            <a:off x="2103120" y="2029968"/>
            <a:ext cx="7152894" cy="594360"/>
          </a:xfrm>
          <a:prstGeom prst="rect">
            <a:avLst/>
          </a:prstGeom>
          <a:solidFill>
            <a:srgbClr val="254F87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2029968"/>
            <a:ext cx="697001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68件  </a:t>
            </a:r>
            <a:pPr algn="l" indent="0" marL="0">
              <a:buNone/>
            </a:pPr>
            <a:r>
              <a:rPr lang="en-US" sz="1200" b="1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見込額 ¥156M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2825496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提案済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103120" y="2825496"/>
            <a:ext cx="9537192" cy="5943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03120" y="2825496"/>
            <a:ext cx="4768596" cy="594360"/>
          </a:xfrm>
          <a:prstGeom prst="rect">
            <a:avLst/>
          </a:prstGeom>
          <a:solidFill>
            <a:srgbClr val="2D63A8"/>
          </a:solidFill>
          <a:ln/>
        </p:spPr>
      </p:sp>
      <p:sp>
        <p:nvSpPr>
          <p:cNvPr id="15" name="Text 13"/>
          <p:cNvSpPr/>
          <p:nvPr/>
        </p:nvSpPr>
        <p:spPr>
          <a:xfrm>
            <a:off x="2286000" y="2825496"/>
            <a:ext cx="45857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31件  </a:t>
            </a:r>
            <a:pPr algn="l" indent="0" marL="0">
              <a:buNone/>
            </a:pPr>
            <a:r>
              <a:rPr lang="en-US" sz="1200" b="1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見込額 ¥82M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3621024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最終交渉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103120" y="3621024"/>
            <a:ext cx="9537192" cy="5943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8" name="Shape 16"/>
          <p:cNvSpPr/>
          <p:nvPr/>
        </p:nvSpPr>
        <p:spPr>
          <a:xfrm>
            <a:off x="2103120" y="3621024"/>
            <a:ext cx="2861158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2286000" y="3621024"/>
            <a:ext cx="267827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12件  </a:t>
            </a:r>
            <a:pPr algn="l" indent="0" marL="0">
              <a:buNone/>
            </a:pPr>
            <a:r>
              <a:rPr lang="en-US" sz="1200" b="1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¥38M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4690872"/>
            <a:ext cx="3697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47.9%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48640" y="5257800"/>
            <a:ext cx="36972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リード→商談 転換率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245864" y="4690872"/>
            <a:ext cx="3697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33.8%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4245864" y="5257800"/>
            <a:ext cx="36972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商談→受注 成約率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43088" y="4690872"/>
            <a:ext cx="3697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42日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943088" y="5257800"/>
            <a:ext cx="36972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平均リードタイム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4月度 アクションプラン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43000"/>
            <a:ext cx="53629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重点施策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47672"/>
            <a:ext cx="237744" cy="23774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01952"/>
            <a:ext cx="2377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645920"/>
            <a:ext cx="49971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最終交渉中の12件を月内クロージング
</a:t>
            </a:r>
            <a:endParaRPr lang="en-US" sz="15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担当: 各チームリーダー / 期限: 4/25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935224"/>
            <a:ext cx="5362956" cy="10973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291840"/>
            <a:ext cx="237744" cy="23774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246120"/>
            <a:ext cx="2377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990088"/>
            <a:ext cx="49971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新規リード獲得キャンペーン実施
</a:t>
            </a:r>
            <a:endParaRPr lang="en-US" sz="15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担当: マーケ連携 / 期限: 4/15開始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279392"/>
            <a:ext cx="5362956" cy="10973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636008"/>
            <a:ext cx="237744" cy="23774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590288"/>
            <a:ext cx="2377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334256"/>
            <a:ext cx="49971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第3営業部の底上げ施策
</a:t>
            </a:r>
            <a:endParaRPr lang="en-US" sz="15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担当: 佐藤 / 週次1on1で進捗管理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623560"/>
            <a:ext cx="5362956" cy="10973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6277356" y="1143000"/>
            <a:ext cx="53629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4月度 目標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77356" y="1645920"/>
            <a:ext cx="5362956" cy="822960"/>
          </a:xfrm>
          <a:prstGeom prst="rect">
            <a:avLst/>
          </a:prstGeom>
          <a:solidFill>
            <a:srgbClr val="16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6551676" y="1645920"/>
            <a:ext cx="29496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売上目標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51676" y="1645920"/>
            <a:ext cx="49971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¥52M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277356" y="2633472"/>
            <a:ext cx="5362956" cy="822960"/>
          </a:xfrm>
          <a:prstGeom prst="rect">
            <a:avLst/>
          </a:prstGeom>
          <a:solidFill>
            <a:srgbClr val="16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6551676" y="2633472"/>
            <a:ext cx="29496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新規受注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51676" y="2633472"/>
            <a:ext cx="49971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25件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277356" y="3621024"/>
            <a:ext cx="5362956" cy="822960"/>
          </a:xfrm>
          <a:prstGeom prst="rect">
            <a:avLst/>
          </a:prstGeom>
          <a:solidFill>
            <a:srgbClr val="162A4A"/>
          </a:solidFill>
          <a:ln/>
        </p:spPr>
      </p:sp>
      <p:sp>
        <p:nvSpPr>
          <p:cNvPr id="25" name="Text 23"/>
          <p:cNvSpPr/>
          <p:nvPr/>
        </p:nvSpPr>
        <p:spPr>
          <a:xfrm>
            <a:off x="6551676" y="3621024"/>
            <a:ext cx="29496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成約率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551676" y="3621024"/>
            <a:ext cx="49971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35%↑</a:t>
            </a:r>
            <a:endParaRPr lang="en-US" sz="2600" dirty="0"/>
          </a:p>
        </p:txBody>
      </p:sp>
      <p:sp>
        <p:nvSpPr>
          <p:cNvPr id="27" name="Shape 25"/>
          <p:cNvSpPr/>
          <p:nvPr/>
        </p:nvSpPr>
        <p:spPr>
          <a:xfrm>
            <a:off x="6277356" y="4700016"/>
            <a:ext cx="5362956" cy="658368"/>
          </a:xfrm>
          <a:prstGeom prst="rect">
            <a:avLst/>
          </a:prstGeom>
          <a:solidFill>
            <a:srgbClr val="1A2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6277356" y="4700016"/>
            <a:ext cx="5362956" cy="1371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9" name="Text 27"/>
          <p:cNvSpPr/>
          <p:nvPr/>
        </p:nvSpPr>
        <p:spPr>
          <a:xfrm>
            <a:off x="6460236" y="4700016"/>
            <a:ext cx="50886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Q1累計  ¥138.2M　（通期目標進捗 69.1%）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5月度 売上ランキング　（単位：円）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3375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順位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号数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14300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店舗名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114300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売上金額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0" y="114300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前期比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476756"/>
            <a:ext cx="11091672" cy="333756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300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47675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日本橋イベントセンター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778240" y="147675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141,916,484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0" y="147675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8.4%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1810512"/>
            <a:ext cx="11091672" cy="333756"/>
          </a:xfrm>
          <a:prstGeom prst="rect">
            <a:avLst/>
          </a:prstGeom>
          <a:solidFill>
            <a:srgbClr val="11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181051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大阪北イベントセンター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78240" y="181051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87,722,501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0" y="181051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62.1%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144268"/>
            <a:ext cx="11091672" cy="333756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300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28800" y="214426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仙台イベントセンター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78240" y="214426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83,606,860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698480" y="214426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▲7.0%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2478024"/>
            <a:ext cx="11091672" cy="333756"/>
          </a:xfrm>
          <a:prstGeom prst="rect">
            <a:avLst/>
          </a:prstGeom>
          <a:solidFill>
            <a:srgbClr val="111E2E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4300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28800" y="247802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大阪中央イベントセンター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778240" y="247802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80,502,402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698480" y="247802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0.9%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8640" y="2811780"/>
            <a:ext cx="11091672" cy="333756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4300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828800" y="281178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札幌イベントセンター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778240" y="281178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53,712,021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698480" y="281178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105.4%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3145536"/>
            <a:ext cx="11091672" cy="333756"/>
          </a:xfrm>
          <a:prstGeom prst="rect">
            <a:avLst/>
          </a:prstGeom>
          <a:solidFill>
            <a:srgbClr val="111E2E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14300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828800" y="314553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新宿新都心イベントセンター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778240" y="314553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40,101,320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698480" y="314553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125.0%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48640" y="3479292"/>
            <a:ext cx="11091672" cy="333756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47" name="Text 45"/>
          <p:cNvSpPr/>
          <p:nvPr/>
        </p:nvSpPr>
        <p:spPr>
          <a:xfrm>
            <a:off x="54864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14300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172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828800" y="347929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神戸西イベントセンター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778240" y="347929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36,361,979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698480" y="347929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5.1%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48640" y="3813048"/>
            <a:ext cx="11091672" cy="333756"/>
          </a:xfrm>
          <a:prstGeom prst="rect">
            <a:avLst/>
          </a:prstGeom>
          <a:solidFill>
            <a:srgbClr val="111E2E"/>
          </a:solidFill>
          <a:ln/>
        </p:spPr>
      </p:sp>
      <p:sp>
        <p:nvSpPr>
          <p:cNvPr id="53" name="Text 51"/>
          <p:cNvSpPr/>
          <p:nvPr/>
        </p:nvSpPr>
        <p:spPr>
          <a:xfrm>
            <a:off x="54864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14300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204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828800" y="381304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広島イベントセンター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778240" y="381304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36,063,194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698480" y="381304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5.8%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548640" y="4146804"/>
            <a:ext cx="11091672" cy="333756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59" name="Text 57"/>
          <p:cNvSpPr/>
          <p:nvPr/>
        </p:nvSpPr>
        <p:spPr>
          <a:xfrm>
            <a:off x="54864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14300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107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828800" y="414680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岡山イベントセンター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8778240" y="414680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35,056,186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10698480" y="414680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149.9%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548640" y="4480560"/>
            <a:ext cx="11091672" cy="333756"/>
          </a:xfrm>
          <a:prstGeom prst="rect">
            <a:avLst/>
          </a:prstGeom>
          <a:solidFill>
            <a:srgbClr val="1A3255"/>
          </a:solidFill>
          <a:ln/>
        </p:spPr>
      </p:sp>
      <p:sp>
        <p:nvSpPr>
          <p:cNvPr id="65" name="Shape 63"/>
          <p:cNvSpPr/>
          <p:nvPr/>
        </p:nvSpPr>
        <p:spPr>
          <a:xfrm>
            <a:off x="548640" y="4480560"/>
            <a:ext cx="41148" cy="33375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828800" y="448056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名古屋イベントセンター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778240" y="448056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33,447,345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698480" y="448056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126.2%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548640" y="4814316"/>
            <a:ext cx="11091672" cy="333756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14300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417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28800" y="481431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銀座イベントセンター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8778240" y="481431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28,293,034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698480" y="481431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26.1%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548640" y="5148072"/>
            <a:ext cx="11091672" cy="333756"/>
          </a:xfrm>
          <a:prstGeom prst="rect">
            <a:avLst/>
          </a:prstGeom>
          <a:solidFill>
            <a:srgbClr val="111E2E"/>
          </a:solidFill>
          <a:ln/>
        </p:spPr>
      </p:sp>
      <p:sp>
        <p:nvSpPr>
          <p:cNvPr id="78" name="Text 76"/>
          <p:cNvSpPr/>
          <p:nvPr/>
        </p:nvSpPr>
        <p:spPr>
          <a:xfrm>
            <a:off x="54864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14300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85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828800" y="514807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姫路イベントセンター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8778240" y="514807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26,936,903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10698480" y="514807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103.9%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48640" y="5481828"/>
            <a:ext cx="11091672" cy="333756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84" name="Text 82"/>
          <p:cNvSpPr/>
          <p:nvPr/>
        </p:nvSpPr>
        <p:spPr>
          <a:xfrm>
            <a:off x="54864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300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186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828800" y="548182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大阪南港イベントセンター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8778240" y="548182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26,245,836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0698480" y="548182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88.4%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548640" y="5815584"/>
            <a:ext cx="11091672" cy="333756"/>
          </a:xfrm>
          <a:prstGeom prst="rect">
            <a:avLst/>
          </a:prstGeom>
          <a:solidFill>
            <a:srgbClr val="111E2E"/>
          </a:solidFill>
          <a:ln/>
        </p:spPr>
      </p:sp>
      <p:sp>
        <p:nvSpPr>
          <p:cNvPr id="90" name="Text 88"/>
          <p:cNvSpPr/>
          <p:nvPr/>
        </p:nvSpPr>
        <p:spPr>
          <a:xfrm>
            <a:off x="54864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114300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78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828800" y="581558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所沢イベントセンター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778240" y="581558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24,939,640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10698480" y="581558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▲9.2%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48640" y="6149340"/>
            <a:ext cx="11091672" cy="333756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96" name="Text 94"/>
          <p:cNvSpPr/>
          <p:nvPr/>
        </p:nvSpPr>
        <p:spPr>
          <a:xfrm>
            <a:off x="54864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114300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94B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179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1828800" y="614934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A80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東京足立イベントセンター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8778240" y="614934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F4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24,777,113</a:t>
            </a:r>
            <a:endParaRPr lang="en-US" sz="1300" dirty="0"/>
          </a:p>
        </p:txBody>
      </p:sp>
      <p:sp>
        <p:nvSpPr>
          <p:cNvPr id="100" name="Text 98"/>
          <p:cNvSpPr/>
          <p:nvPr/>
        </p:nvSpPr>
        <p:spPr>
          <a:xfrm>
            <a:off x="10698480" y="614934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8.4%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2026-04-24T08:05:28Z</dcterms:created>
  <dcterms:modified xsi:type="dcterms:W3CDTF">2026-04-24T08:05:28Z</dcterms:modified>
</cp:coreProperties>
</file>